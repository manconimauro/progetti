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8" r:id="rId3"/>
    <p:sldId id="259" r:id="rId4"/>
    <p:sldId id="283" r:id="rId5"/>
    <p:sldId id="260" r:id="rId6"/>
    <p:sldId id="261" r:id="rId7"/>
    <p:sldId id="262" r:id="rId8"/>
    <p:sldId id="263" r:id="rId9"/>
    <p:sldId id="264" r:id="rId10"/>
    <p:sldId id="265" r:id="rId11"/>
    <p:sldId id="282" r:id="rId12"/>
    <p:sldId id="266" r:id="rId13"/>
    <p:sldId id="267" r:id="rId14"/>
    <p:sldId id="268" r:id="rId15"/>
    <p:sldId id="269" r:id="rId16"/>
    <p:sldId id="273" r:id="rId17"/>
    <p:sldId id="270" r:id="rId18"/>
    <p:sldId id="271" r:id="rId19"/>
    <p:sldId id="272" r:id="rId20"/>
    <p:sldId id="274" r:id="rId21"/>
    <p:sldId id="275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0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4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0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8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8A8B5D-091F-8F28-EAE5-D366B96B2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94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05" r="752" b="1"/>
          <a:stretch/>
        </p:blipFill>
        <p:spPr>
          <a:xfrm>
            <a:off x="1" y="-1055"/>
            <a:ext cx="12191998" cy="68590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A482A06-0FA1-DF3A-657C-33FC99466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45341" y="-345340"/>
            <a:ext cx="6857999" cy="7548682"/>
          </a:xfrm>
          <a:prstGeom prst="rect">
            <a:avLst/>
          </a:prstGeom>
          <a:gradFill>
            <a:gsLst>
              <a:gs pos="55000">
                <a:srgbClr val="000000">
                  <a:alpha val="4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9" y="745440"/>
            <a:ext cx="6253397" cy="3559859"/>
          </a:xfrm>
        </p:spPr>
        <p:txBody>
          <a:bodyPr>
            <a:normAutofit/>
          </a:bodyPr>
          <a:lstStyle/>
          <a:p>
            <a:r>
              <a:rPr lang="it-IT" sz="4800" dirty="0">
                <a:solidFill>
                  <a:srgbClr val="FFFFFF"/>
                </a:solidFill>
              </a:rPr>
              <a:t>Olimpiadi e Paralimpiadi Parigi 2024</a:t>
            </a: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007258F-B97F-F3D0-C605-607D51065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5529264"/>
            <a:ext cx="12192000" cy="1328737"/>
          </a:xfrm>
          <a:custGeom>
            <a:avLst/>
            <a:gdLst>
              <a:gd name="connsiteX0" fmla="*/ 0 w 12192000"/>
              <a:gd name="connsiteY0" fmla="*/ 0 h 1328737"/>
              <a:gd name="connsiteX1" fmla="*/ 1 w 12192000"/>
              <a:gd name="connsiteY1" fmla="*/ 0 h 1328737"/>
              <a:gd name="connsiteX2" fmla="*/ 1 w 12192000"/>
              <a:gd name="connsiteY2" fmla="*/ 131028 h 1328737"/>
              <a:gd name="connsiteX3" fmla="*/ 13428 w 12192000"/>
              <a:gd name="connsiteY3" fmla="*/ 264218 h 1328737"/>
              <a:gd name="connsiteX4" fmla="*/ 660931 w 12192000"/>
              <a:gd name="connsiteY4" fmla="*/ 791948 h 1328737"/>
              <a:gd name="connsiteX5" fmla="*/ 11531069 w 12192000"/>
              <a:gd name="connsiteY5" fmla="*/ 791948 h 1328737"/>
              <a:gd name="connsiteX6" fmla="*/ 12192000 w 12192000"/>
              <a:gd name="connsiteY6" fmla="*/ 131017 h 1328737"/>
              <a:gd name="connsiteX7" fmla="*/ 12192000 w 12192000"/>
              <a:gd name="connsiteY7" fmla="*/ 1328737 h 1328737"/>
              <a:gd name="connsiteX8" fmla="*/ 0 w 12192000"/>
              <a:gd name="connsiteY8" fmla="*/ 1328737 h 132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328737">
                <a:moveTo>
                  <a:pt x="0" y="0"/>
                </a:moveTo>
                <a:lnTo>
                  <a:pt x="1" y="0"/>
                </a:lnTo>
                <a:lnTo>
                  <a:pt x="1" y="131028"/>
                </a:lnTo>
                <a:lnTo>
                  <a:pt x="13428" y="264218"/>
                </a:lnTo>
                <a:cubicBezTo>
                  <a:pt x="75057" y="565393"/>
                  <a:pt x="341537" y="791948"/>
                  <a:pt x="660931" y="791948"/>
                </a:cubicBezTo>
                <a:lnTo>
                  <a:pt x="11531069" y="791948"/>
                </a:lnTo>
                <a:cubicBezTo>
                  <a:pt x="11896091" y="791948"/>
                  <a:pt x="12192000" y="496039"/>
                  <a:pt x="12192000" y="131017"/>
                </a:cubicBezTo>
                <a:lnTo>
                  <a:pt x="12192000" y="1328737"/>
                </a:lnTo>
                <a:lnTo>
                  <a:pt x="0" y="13287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04" y="3913239"/>
            <a:ext cx="4781396" cy="1741111"/>
          </a:xfrm>
        </p:spPr>
        <p:txBody>
          <a:bodyPr>
            <a:normAutofit fontScale="92500" lnSpcReduction="10000"/>
          </a:bodyPr>
          <a:lstStyle/>
          <a:p>
            <a:r>
              <a:rPr lang="it-IT" dirty="0">
                <a:solidFill>
                  <a:srgbClr val="FFFFFF"/>
                </a:solidFill>
              </a:rPr>
              <a:t>--</a:t>
            </a:r>
            <a:r>
              <a:rPr lang="it-IT" dirty="0" err="1">
                <a:solidFill>
                  <a:srgbClr val="FFFFFF"/>
                </a:solidFill>
              </a:rPr>
              <a:t>Youtube</a:t>
            </a:r>
            <a:r>
              <a:rPr lang="it-IT" dirty="0">
                <a:solidFill>
                  <a:srgbClr val="FFFFFF"/>
                </a:solidFill>
              </a:rPr>
              <a:t> Analysis—</a:t>
            </a:r>
          </a:p>
          <a:p>
            <a:endParaRPr lang="it-IT" dirty="0">
              <a:solidFill>
                <a:srgbClr val="FFFFFF"/>
              </a:solidFill>
            </a:endParaRPr>
          </a:p>
          <a:p>
            <a:r>
              <a:rPr lang="it-IT" dirty="0">
                <a:solidFill>
                  <a:srgbClr val="FFFFFF"/>
                </a:solidFill>
              </a:rPr>
              <a:t>Progetto di social media mining di </a:t>
            </a:r>
          </a:p>
          <a:p>
            <a:r>
              <a:rPr lang="it-IT" dirty="0">
                <a:solidFill>
                  <a:srgbClr val="FFFFFF"/>
                </a:solidFill>
              </a:rPr>
              <a:t>Manconi Mauro</a:t>
            </a:r>
          </a:p>
        </p:txBody>
      </p:sp>
    </p:spTree>
    <p:extLst>
      <p:ext uri="{BB962C8B-B14F-4D97-AF65-F5344CB8AC3E}">
        <p14:creationId xmlns:p14="http://schemas.microsoft.com/office/powerpoint/2010/main" val="180327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731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Panoramica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Contesto </a:t>
            </a:r>
          </a:p>
          <a:p>
            <a:pPr marL="8001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Domande di ricerca</a:t>
            </a:r>
          </a:p>
          <a:p>
            <a:pPr marL="8001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</a:t>
            </a:r>
            <a:r>
              <a:rPr lang="it-IT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Gathering</a:t>
            </a:r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8001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Calcolo di metriche e Analisi informative</a:t>
            </a:r>
          </a:p>
          <a:p>
            <a:pPr marL="8001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Conclusioni</a:t>
            </a:r>
          </a:p>
          <a:p>
            <a:pPr indent="-228600"/>
            <a:endParaRPr lang="en-US" dirty="0"/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1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731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Contesto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 sono occupato di analizzare le interazioni provenienti dai commenti dei video che utilizzavano tag come </a:t>
            </a:r>
            <a:r>
              <a:rPr lang="it-IT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Olympics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it-IT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Paralympics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 Paris2024 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sfruttando le YouTube Data Api v 3.</a:t>
            </a: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/>
            <a:endParaRPr lang="en-US" dirty="0"/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0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27453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Domande di ricerca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7" y="1722992"/>
            <a:ext cx="4256263" cy="4767782"/>
          </a:xfr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 è la struttura della rete formata dagli utenti che commentano i video relativi alle Olimpiadi?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 utenti o nodi hanno più influenza all'interno di questa rete in base alle metriche di centralità?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Come si formano le diverse comunità all'interno della rete e su quali sport o eventi sono maggiormente concentrate?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 fattori influenzano maggiormente la formazione delle comunità all'interno della rete sociale?</a:t>
            </a:r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2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73163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</a:t>
            </a:r>
            <a:r>
              <a:rPr lang="it-I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Gathering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Vogliamo costruire una rete in base al commenti nei video da parte degli utenti.</a:t>
            </a: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Quindi ci serve una rete in cui ogni nodo rappresenta un commentatore ed è collegato ad un altro nodo se entrambi hanno commentato un video di un determinato sport o se hanno parlato la stessa lingua</a:t>
            </a: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0F86FD6-7024-C719-8C15-711C7E3D9DE1}"/>
              </a:ext>
            </a:extLst>
          </p:cNvPr>
          <p:cNvSpPr txBox="1"/>
          <p:nvPr/>
        </p:nvSpPr>
        <p:spPr>
          <a:xfrm>
            <a:off x="22975" y="1481861"/>
            <a:ext cx="4891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Quali dati possono servirci?</a:t>
            </a:r>
          </a:p>
        </p:txBody>
      </p:sp>
    </p:spTree>
    <p:extLst>
      <p:ext uri="{BB962C8B-B14F-4D97-AF65-F5344CB8AC3E}">
        <p14:creationId xmlns:p14="http://schemas.microsoft.com/office/powerpoint/2010/main" val="146879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73163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</a:t>
            </a:r>
            <a:r>
              <a:rPr lang="it-I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Gathering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Tramite le api di YouTube andiamo a scaricare tutti i video che hanno determinati tag. Salvando vari dati come l’id del video, il titolo etc..;</a:t>
            </a:r>
          </a:p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Abbiamo utilizzato tuttavia solamente gli id dei video per poi scaricare i 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thread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di commenti sotto ai video.</a:t>
            </a:r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73163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</a:t>
            </a:r>
            <a:r>
              <a:rPr lang="it-I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Gathering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723" y="2045110"/>
            <a:ext cx="4256263" cy="19074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Abbiamo 2 file ‘videos.csv’ e ‘video_commets.csv’ che contengono rispettivamente i dati di tutti i video e dei commentatori di ogni video</a:t>
            </a: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271A41-0B00-5B70-BD82-B8A09AA9ED69}"/>
              </a:ext>
            </a:extLst>
          </p:cNvPr>
          <p:cNvSpPr txBox="1"/>
          <p:nvPr/>
        </p:nvSpPr>
        <p:spPr>
          <a:xfrm>
            <a:off x="308387" y="4326164"/>
            <a:ext cx="4420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Video analizzati : 6119</a:t>
            </a:r>
          </a:p>
          <a:p>
            <a:r>
              <a:rPr lang="it-IT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Commentatori totali : 39069</a:t>
            </a:r>
          </a:p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(di cui 28697 unici)</a:t>
            </a:r>
            <a:endParaRPr lang="it-IT" sz="1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7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511277"/>
            <a:ext cx="4256263" cy="111104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Costruzione della Rete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Andiamo a considerare solo gli utenti che hanno commentato un video per rappresentare ogni </a:t>
            </a: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nodo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della rete. </a:t>
            </a: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Gli </a:t>
            </a: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sono creati se i 2 commentatori hanno commentato un video dello stesso sport o nella stessa lingua e gli archi non sono pesati</a:t>
            </a: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9275349-E5E5-3025-6AFA-341B71A6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60" y="286083"/>
            <a:ext cx="5890770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4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114576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Costruzione del grafo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N° nodi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28967</a:t>
            </a:r>
          </a:p>
          <a:p>
            <a:pPr>
              <a:lnSpc>
                <a:spcPct val="150000"/>
              </a:lnSpc>
            </a:pP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N° archi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147030</a:t>
            </a:r>
          </a:p>
          <a:p>
            <a:pPr>
              <a:lnSpc>
                <a:spcPct val="150000"/>
              </a:lnSpc>
            </a:pP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Densità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0.00035</a:t>
            </a: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/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00498C-F3C2-83D9-419F-19769B779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60" y="277857"/>
            <a:ext cx="5890770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4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114576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Costruzione della Rete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ts val="4000"/>
              </a:lnSpc>
            </a:pPr>
            <a:endParaRPr lang="it-IT" sz="8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ts val="4000"/>
              </a:lnSpc>
            </a:pPr>
            <a:endParaRPr lang="it-IT" sz="6200" u="sng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ts val="4000"/>
              </a:lnSpc>
            </a:pPr>
            <a:r>
              <a:rPr lang="it-IT" sz="6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Grado medio </a:t>
            </a:r>
            <a:r>
              <a:rPr lang="it-IT" sz="6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10.15</a:t>
            </a:r>
          </a:p>
          <a:p>
            <a:pPr>
              <a:lnSpc>
                <a:spcPts val="4000"/>
              </a:lnSpc>
            </a:pPr>
            <a:r>
              <a:rPr lang="it-IT" sz="6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Grado @Olympics </a:t>
            </a:r>
            <a:r>
              <a:rPr lang="it-IT" sz="6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1114</a:t>
            </a:r>
          </a:p>
          <a:p>
            <a:pPr>
              <a:lnSpc>
                <a:spcPts val="4000"/>
              </a:lnSpc>
            </a:pPr>
            <a:r>
              <a:rPr lang="it-IT" sz="6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(nodo con grado massimo)</a:t>
            </a:r>
          </a:p>
          <a:p>
            <a:pPr>
              <a:lnSpc>
                <a:spcPts val="4000"/>
              </a:lnSpc>
            </a:pPr>
            <a:r>
              <a:rPr lang="it-IT" sz="6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Mediana del grado </a:t>
            </a:r>
            <a:r>
              <a:rPr lang="it-IT" sz="6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9.0   </a:t>
            </a:r>
          </a:p>
          <a:p>
            <a:pPr>
              <a:lnSpc>
                <a:spcPts val="4000"/>
              </a:lnSpc>
            </a:pPr>
            <a:endParaRPr lang="it-IT" sz="6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/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91C2D2B-99C2-92D2-4CEB-01490FD5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60" y="286083"/>
            <a:ext cx="5890770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4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5BA6870-D03B-59F6-3B20-ECB878D96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670" y="5542646"/>
            <a:ext cx="11470657" cy="61040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Costruzione della Rete</a:t>
            </a:r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299" y="5474501"/>
            <a:ext cx="3548891" cy="106430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it-IT" sz="18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1800" u="sng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18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18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/>
            <a:endParaRPr lang="en-US" sz="180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007C44E-5608-5BA7-E07F-64016EA2A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8" cy="5143500"/>
          </a:xfrm>
          <a:custGeom>
            <a:avLst/>
            <a:gdLst>
              <a:gd name="connsiteX0" fmla="*/ 0 w 12191998"/>
              <a:gd name="connsiteY0" fmla="*/ 0 h 5143500"/>
              <a:gd name="connsiteX1" fmla="*/ 12191998 w 12191998"/>
              <a:gd name="connsiteY1" fmla="*/ 0 h 5143500"/>
              <a:gd name="connsiteX2" fmla="*/ 12191998 w 12191998"/>
              <a:gd name="connsiteY2" fmla="*/ 4482569 h 5143500"/>
              <a:gd name="connsiteX3" fmla="*/ 11531067 w 12191998"/>
              <a:gd name="connsiteY3" fmla="*/ 5143500 h 5143500"/>
              <a:gd name="connsiteX4" fmla="*/ 660929 w 12191998"/>
              <a:gd name="connsiteY4" fmla="*/ 5143500 h 5143500"/>
              <a:gd name="connsiteX5" fmla="*/ 13426 w 12191998"/>
              <a:gd name="connsiteY5" fmla="*/ 4615770 h 5143500"/>
              <a:gd name="connsiteX6" fmla="*/ 0 w 12191998"/>
              <a:gd name="connsiteY6" fmla="*/ 448259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143500">
                <a:moveTo>
                  <a:pt x="0" y="0"/>
                </a:moveTo>
                <a:lnTo>
                  <a:pt x="12191998" y="0"/>
                </a:lnTo>
                <a:lnTo>
                  <a:pt x="12191998" y="4482569"/>
                </a:lnTo>
                <a:cubicBezTo>
                  <a:pt x="12191998" y="4847591"/>
                  <a:pt x="11896089" y="5143500"/>
                  <a:pt x="11531067" y="5143500"/>
                </a:cubicBezTo>
                <a:lnTo>
                  <a:pt x="660929" y="5143500"/>
                </a:lnTo>
                <a:cubicBezTo>
                  <a:pt x="341535" y="5143500"/>
                  <a:pt x="75055" y="4916945"/>
                  <a:pt x="13426" y="4615770"/>
                </a:cubicBezTo>
                <a:lnTo>
                  <a:pt x="0" y="44825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9E10C6C-56F8-8383-4874-0D12065F8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740" y="399146"/>
            <a:ext cx="5532450" cy="373440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B9C4385-EC71-A724-AE90-2265EB888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98" y="399146"/>
            <a:ext cx="5297026" cy="37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68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5315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Metriche e Analisi informative della Rete</a:t>
            </a:r>
            <a:br>
              <a:rPr lang="it-IT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Distribuzione del Grado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Verifica meccanismo small-world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Metriche di centralità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 della </a:t>
            </a:r>
            <a:r>
              <a:rPr lang="it-IT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Giant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 e delle componenti connesse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 della modularità e delle community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FDBD750-BA2E-5557-43DE-F5A11469D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60" y="277857"/>
            <a:ext cx="5890770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1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01939BB-8614-4E54-74E0-27E468B8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001" y="0"/>
            <a:ext cx="8035000" cy="6858001"/>
          </a:xfrm>
          <a:custGeom>
            <a:avLst/>
            <a:gdLst>
              <a:gd name="connsiteX0" fmla="*/ 0 w 8035000"/>
              <a:gd name="connsiteY0" fmla="*/ 0 h 6858001"/>
              <a:gd name="connsiteX1" fmla="*/ 8035000 w 8035000"/>
              <a:gd name="connsiteY1" fmla="*/ 0 h 6858001"/>
              <a:gd name="connsiteX2" fmla="*/ 8035000 w 8035000"/>
              <a:gd name="connsiteY2" fmla="*/ 6858001 h 6858001"/>
              <a:gd name="connsiteX3" fmla="*/ 137897 w 8035000"/>
              <a:gd name="connsiteY3" fmla="*/ 6858001 h 6858001"/>
              <a:gd name="connsiteX4" fmla="*/ 274509 w 8035000"/>
              <a:gd name="connsiteY4" fmla="*/ 6844229 h 6858001"/>
              <a:gd name="connsiteX5" fmla="*/ 815799 w 8035000"/>
              <a:gd name="connsiteY5" fmla="*/ 6180089 h 6858001"/>
              <a:gd name="connsiteX6" fmla="*/ 815799 w 8035000"/>
              <a:gd name="connsiteY6" fmla="*/ 677915 h 6858001"/>
              <a:gd name="connsiteX7" fmla="*/ 137886 w 8035000"/>
              <a:gd name="connsiteY7" fmla="*/ 2 h 6858001"/>
              <a:gd name="connsiteX8" fmla="*/ 0 w 8035000"/>
              <a:gd name="connsiteY8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3" y="752137"/>
            <a:ext cx="3936726" cy="146995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Distribuzione del grado </a:t>
            </a:r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2349910"/>
            <a:ext cx="3698627" cy="3755953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Abbiamo la conferma che si tratta di una </a:t>
            </a:r>
            <a:r>
              <a:rPr lang="it-IT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 scale-free 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 quindi segue una distribuzione power-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law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di tipo </a:t>
            </a:r>
            <a:r>
              <a:rPr lang="it-IT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‘heavy </a:t>
            </a:r>
            <a:r>
              <a:rPr lang="it-IT" u="sng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tail</a:t>
            </a:r>
            <a:r>
              <a:rPr lang="it-IT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’</a:t>
            </a:r>
          </a:p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Dalla rappresentazione grafica si nota la presenza di pochi nodi con un grado molto alto , quindi molto connessi, e molti nodi con un grado molto basso.</a:t>
            </a:r>
          </a:p>
          <a:p>
            <a:pPr>
              <a:lnSpc>
                <a:spcPct val="110000"/>
              </a:lnSpc>
            </a:pPr>
            <a:endParaRPr lang="it-IT" sz="1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4992C08-1ABE-5AF4-1AFD-786E861F4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73" y="1640303"/>
            <a:ext cx="5566371" cy="35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8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01939BB-8614-4E54-74E0-27E468B8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001" y="0"/>
            <a:ext cx="8035000" cy="6858001"/>
          </a:xfrm>
          <a:custGeom>
            <a:avLst/>
            <a:gdLst>
              <a:gd name="connsiteX0" fmla="*/ 0 w 8035000"/>
              <a:gd name="connsiteY0" fmla="*/ 0 h 6858001"/>
              <a:gd name="connsiteX1" fmla="*/ 8035000 w 8035000"/>
              <a:gd name="connsiteY1" fmla="*/ 0 h 6858001"/>
              <a:gd name="connsiteX2" fmla="*/ 8035000 w 8035000"/>
              <a:gd name="connsiteY2" fmla="*/ 6858001 h 6858001"/>
              <a:gd name="connsiteX3" fmla="*/ 137897 w 8035000"/>
              <a:gd name="connsiteY3" fmla="*/ 6858001 h 6858001"/>
              <a:gd name="connsiteX4" fmla="*/ 274509 w 8035000"/>
              <a:gd name="connsiteY4" fmla="*/ 6844229 h 6858001"/>
              <a:gd name="connsiteX5" fmla="*/ 815799 w 8035000"/>
              <a:gd name="connsiteY5" fmla="*/ 6180089 h 6858001"/>
              <a:gd name="connsiteX6" fmla="*/ 815799 w 8035000"/>
              <a:gd name="connsiteY6" fmla="*/ 677915 h 6858001"/>
              <a:gd name="connsiteX7" fmla="*/ 137886 w 8035000"/>
              <a:gd name="connsiteY7" fmla="*/ 2 h 6858001"/>
              <a:gd name="connsiteX8" fmla="*/ 0 w 8035000"/>
              <a:gd name="connsiteY8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3" y="752136"/>
            <a:ext cx="3936726" cy="134374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Confronto con rete </a:t>
            </a:r>
            <a:r>
              <a:rPr lang="it-IT" sz="4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Erdos-Renyi</a:t>
            </a:r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2330245"/>
            <a:ext cx="4328574" cy="3689556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 creato una rete random modello 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Erdos-Renyi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con: </a:t>
            </a:r>
          </a:p>
          <a:p>
            <a:pPr>
              <a:lnSpc>
                <a:spcPct val="110000"/>
              </a:lnSpc>
            </a:pPr>
            <a:endParaRPr lang="it-IT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</a:t>
            </a:r>
            <a:r>
              <a:rPr lang="it-IT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Nodi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28967</a:t>
            </a:r>
          </a:p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</a:t>
            </a:r>
            <a:r>
              <a:rPr lang="it-IT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probabilità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=densità(0.00035)</a:t>
            </a:r>
          </a:p>
          <a:p>
            <a:pPr>
              <a:lnSpc>
                <a:spcPct val="110000"/>
              </a:lnSpc>
            </a:pPr>
            <a:endParaRPr lang="it-IT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Come giusto che sia la distribuzione del grado della rete sociale non segue una struttura gerarchica come il modello ER </a:t>
            </a:r>
          </a:p>
          <a:p>
            <a:pPr indent="-228600">
              <a:lnSpc>
                <a:spcPct val="110000"/>
              </a:lnSpc>
            </a:pPr>
            <a:endParaRPr lang="en-US" sz="5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E4545F8-3DD3-AAD1-7428-BE96C207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73" y="1730757"/>
            <a:ext cx="5566371" cy="338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4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455175"/>
            <a:ext cx="4256263" cy="17050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E’ una rete con meccanismo small-world ???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615381"/>
            <a:ext cx="4256263" cy="35095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Verifichiamo rispetto un’istanza del modello random ER :</a:t>
            </a: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 lunghezza dei cammini mini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Coefficiente di clustering medio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14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01939BB-8614-4E54-74E0-27E468B8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001" y="0"/>
            <a:ext cx="8035000" cy="6858001"/>
          </a:xfrm>
          <a:custGeom>
            <a:avLst/>
            <a:gdLst>
              <a:gd name="connsiteX0" fmla="*/ 0 w 8035000"/>
              <a:gd name="connsiteY0" fmla="*/ 0 h 6858001"/>
              <a:gd name="connsiteX1" fmla="*/ 8035000 w 8035000"/>
              <a:gd name="connsiteY1" fmla="*/ 0 h 6858001"/>
              <a:gd name="connsiteX2" fmla="*/ 8035000 w 8035000"/>
              <a:gd name="connsiteY2" fmla="*/ 6858001 h 6858001"/>
              <a:gd name="connsiteX3" fmla="*/ 137897 w 8035000"/>
              <a:gd name="connsiteY3" fmla="*/ 6858001 h 6858001"/>
              <a:gd name="connsiteX4" fmla="*/ 274509 w 8035000"/>
              <a:gd name="connsiteY4" fmla="*/ 6844229 h 6858001"/>
              <a:gd name="connsiteX5" fmla="*/ 815799 w 8035000"/>
              <a:gd name="connsiteY5" fmla="*/ 6180089 h 6858001"/>
              <a:gd name="connsiteX6" fmla="*/ 815799 w 8035000"/>
              <a:gd name="connsiteY6" fmla="*/ 677915 h 6858001"/>
              <a:gd name="connsiteX7" fmla="*/ 137886 w 8035000"/>
              <a:gd name="connsiteY7" fmla="*/ 2 h 6858001"/>
              <a:gd name="connsiteX8" fmla="*/ 0 w 8035000"/>
              <a:gd name="connsiteY8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2" y="493252"/>
            <a:ext cx="3936726" cy="134374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Confronto con rete </a:t>
            </a:r>
            <a:r>
              <a:rPr lang="it-IT" sz="4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Erdos-Renyi</a:t>
            </a:r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1730757"/>
            <a:ext cx="4328574" cy="4552056"/>
          </a:xfrm>
        </p:spPr>
        <p:txBody>
          <a:bodyPr vert="horz" lIns="91440" tIns="45720" rIns="91440" bIns="45720" rtlCol="0" anchor="b">
            <a:normAutofit fontScale="32500" lnSpcReduction="2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 Olimpica:</a:t>
            </a:r>
          </a:p>
          <a:p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 lunghezza cammini minimi = 6.428</a:t>
            </a:r>
          </a:p>
          <a:p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 medio = 0.959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 ER: </a:t>
            </a:r>
          </a:p>
          <a:p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Media lunghezza cammini minimi = 4.696 </a:t>
            </a:r>
          </a:p>
          <a:p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 medio = 0.00031</a:t>
            </a:r>
          </a:p>
          <a:p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 sintesi, la </a:t>
            </a:r>
            <a:r>
              <a:rPr lang="it-IT" sz="55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 Olimpica</a:t>
            </a:r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sembra avere una struttura più sociale e organizzata rispetto alla </a:t>
            </a:r>
            <a:r>
              <a:rPr lang="it-IT" sz="55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 ER</a:t>
            </a:r>
            <a:r>
              <a:rPr lang="it-IT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che è una rete puramente casuale e meno "comunitaria"</a:t>
            </a:r>
          </a:p>
          <a:p>
            <a:pPr indent="-228600">
              <a:lnSpc>
                <a:spcPct val="110000"/>
              </a:lnSpc>
            </a:pPr>
            <a:endParaRPr lang="en-US" sz="5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E4545F8-3DD3-AAD1-7428-BE96C207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73" y="1730757"/>
            <a:ext cx="5566371" cy="338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0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B8D88AF-5822-33D1-F19D-1A2DB597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114" y="43616"/>
            <a:ext cx="11647639" cy="10815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Metriche</a:t>
            </a:r>
            <a:r>
              <a:rPr lang="it-IT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 centralità</a:t>
            </a:r>
            <a:endParaRPr lang="en-US" sz="44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AA1CD67-1712-85E2-92FE-50F8C524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465588"/>
            <a:ext cx="12192000" cy="2392412"/>
          </a:xfrm>
          <a:custGeom>
            <a:avLst/>
            <a:gdLst>
              <a:gd name="connsiteX0" fmla="*/ 0 w 12192000"/>
              <a:gd name="connsiteY0" fmla="*/ 0 h 2392412"/>
              <a:gd name="connsiteX1" fmla="*/ 677913 w 12192000"/>
              <a:gd name="connsiteY1" fmla="*/ 677913 h 2392412"/>
              <a:gd name="connsiteX2" fmla="*/ 11514088 w 12192000"/>
              <a:gd name="connsiteY2" fmla="*/ 677913 h 2392412"/>
              <a:gd name="connsiteX3" fmla="*/ 12178228 w 12192000"/>
              <a:gd name="connsiteY3" fmla="*/ 136623 h 2392412"/>
              <a:gd name="connsiteX4" fmla="*/ 12192000 w 12192000"/>
              <a:gd name="connsiteY4" fmla="*/ 11 h 2392412"/>
              <a:gd name="connsiteX5" fmla="*/ 12192000 w 12192000"/>
              <a:gd name="connsiteY5" fmla="*/ 2392412 h 2392412"/>
              <a:gd name="connsiteX6" fmla="*/ 0 w 12192000"/>
              <a:gd name="connsiteY6" fmla="*/ 2392412 h 2392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392412">
                <a:moveTo>
                  <a:pt x="0" y="0"/>
                </a:moveTo>
                <a:cubicBezTo>
                  <a:pt x="0" y="374401"/>
                  <a:pt x="303512" y="677913"/>
                  <a:pt x="677913" y="677913"/>
                </a:cubicBezTo>
                <a:lnTo>
                  <a:pt x="11514088" y="677913"/>
                </a:lnTo>
                <a:cubicBezTo>
                  <a:pt x="11841689" y="677913"/>
                  <a:pt x="12115015" y="445537"/>
                  <a:pt x="12178228" y="136623"/>
                </a:cubicBezTo>
                <a:lnTo>
                  <a:pt x="12192000" y="11"/>
                </a:lnTo>
                <a:lnTo>
                  <a:pt x="12192000" y="2392412"/>
                </a:lnTo>
                <a:lnTo>
                  <a:pt x="0" y="2392412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746" y="5557206"/>
            <a:ext cx="10860407" cy="725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endParaRPr lang="it-IT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 algn="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EB7AC3A-9A06-418A-9934-116FF4CF08D3}"/>
              </a:ext>
            </a:extLst>
          </p:cNvPr>
          <p:cNvSpPr txBox="1"/>
          <p:nvPr/>
        </p:nvSpPr>
        <p:spPr>
          <a:xfrm>
            <a:off x="583862" y="2389156"/>
            <a:ext cx="27235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Degree </a:t>
            </a:r>
            <a:r>
              <a:rPr lang="it-IT" sz="1400" dirty="0" err="1"/>
              <a:t>Centrality</a:t>
            </a:r>
            <a:r>
              <a:rPr lang="it-IT" sz="1400" dirty="0"/>
              <a:t>:</a:t>
            </a:r>
          </a:p>
          <a:p>
            <a:r>
              <a:rPr lang="it-IT" sz="1400" dirty="0"/>
              <a:t>@Olympics 0.0384 @francisnguyen6349  0.0091 @jamesaaronmanarang  0.0066 </a:t>
            </a:r>
          </a:p>
          <a:p>
            <a:r>
              <a:rPr lang="it-IT" sz="1400" dirty="0"/>
              <a:t>@tedmink7568  0.0062 </a:t>
            </a:r>
          </a:p>
          <a:p>
            <a:r>
              <a:rPr lang="it-IT" sz="1400" dirty="0"/>
              <a:t>@shizukagozen777  0.0052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4EEEE1-6088-EEF7-6805-9FE32ACE9C36}"/>
              </a:ext>
            </a:extLst>
          </p:cNvPr>
          <p:cNvSpPr txBox="1"/>
          <p:nvPr/>
        </p:nvSpPr>
        <p:spPr>
          <a:xfrm>
            <a:off x="403122" y="1537587"/>
            <a:ext cx="11094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Classifichiamo i 5 nodi più centrali rispetto le diverse metriche di centralità.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07D7948-1583-DCCE-BF86-E1EFC4BE93C7}"/>
              </a:ext>
            </a:extLst>
          </p:cNvPr>
          <p:cNvSpPr txBox="1"/>
          <p:nvPr/>
        </p:nvSpPr>
        <p:spPr>
          <a:xfrm>
            <a:off x="3307398" y="2409041"/>
            <a:ext cx="27235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/>
              <a:t>Betwenness</a:t>
            </a:r>
            <a:r>
              <a:rPr lang="it-IT" sz="1400" dirty="0"/>
              <a:t> </a:t>
            </a:r>
            <a:r>
              <a:rPr lang="it-IT" sz="1400" dirty="0" err="1"/>
              <a:t>Centrality</a:t>
            </a:r>
            <a:r>
              <a:rPr lang="it-IT" sz="1400" dirty="0"/>
              <a:t>:</a:t>
            </a:r>
          </a:p>
          <a:p>
            <a:r>
              <a:rPr lang="it-IT" sz="1400" dirty="0"/>
              <a:t>@Olympics 0.0563 @francisnguyen6349  0.0238</a:t>
            </a:r>
          </a:p>
          <a:p>
            <a:r>
              <a:rPr lang="it-IT" sz="1400" dirty="0"/>
              <a:t>@shizukagozen777  0.0140</a:t>
            </a:r>
          </a:p>
          <a:p>
            <a:r>
              <a:rPr lang="it-IT" sz="1400" dirty="0"/>
              <a:t>@user-sr1gi4fu4f  0.0116 </a:t>
            </a:r>
          </a:p>
          <a:p>
            <a:r>
              <a:rPr lang="it-IT" sz="1400" dirty="0"/>
              <a:t>@jamesaaronmanarang  0.0074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A7C774B-9181-5BC4-7D94-E869F6907A43}"/>
              </a:ext>
            </a:extLst>
          </p:cNvPr>
          <p:cNvSpPr txBox="1"/>
          <p:nvPr/>
        </p:nvSpPr>
        <p:spPr>
          <a:xfrm>
            <a:off x="6096000" y="2409041"/>
            <a:ext cx="27235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/>
              <a:t>Closeness</a:t>
            </a:r>
            <a:r>
              <a:rPr lang="it-IT" sz="1400" dirty="0"/>
              <a:t> </a:t>
            </a:r>
            <a:r>
              <a:rPr lang="it-IT" sz="1400" dirty="0" err="1"/>
              <a:t>Centrality</a:t>
            </a:r>
            <a:r>
              <a:rPr lang="it-IT" sz="1400" dirty="0"/>
              <a:t>:</a:t>
            </a:r>
          </a:p>
          <a:p>
            <a:r>
              <a:rPr lang="it-IT" sz="1400" dirty="0"/>
              <a:t>@Olympics 0.0918 @francisnguyen6349  0.0884 @jamesaaronmanarang  0.0837</a:t>
            </a:r>
          </a:p>
          <a:p>
            <a:r>
              <a:rPr lang="it-IT" sz="1400" dirty="0"/>
              <a:t>@TayekTali  0.0827</a:t>
            </a:r>
          </a:p>
          <a:p>
            <a:r>
              <a:rPr lang="it-IT" sz="1400" dirty="0"/>
              <a:t>@sky.483  0.0821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D604EBC-4D4F-7BC4-CC40-E281D389E0AD}"/>
              </a:ext>
            </a:extLst>
          </p:cNvPr>
          <p:cNvSpPr txBox="1"/>
          <p:nvPr/>
        </p:nvSpPr>
        <p:spPr>
          <a:xfrm>
            <a:off x="8884604" y="2382913"/>
            <a:ext cx="27235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/>
              <a:t>Eigenvector</a:t>
            </a:r>
            <a:r>
              <a:rPr lang="it-IT" sz="1400" dirty="0"/>
              <a:t> </a:t>
            </a:r>
            <a:r>
              <a:rPr lang="it-IT" sz="1400" dirty="0" err="1"/>
              <a:t>Centrality</a:t>
            </a:r>
            <a:r>
              <a:rPr lang="it-IT" sz="1400" dirty="0"/>
              <a:t>:</a:t>
            </a:r>
          </a:p>
          <a:p>
            <a:r>
              <a:rPr lang="it-IT" sz="1400" dirty="0"/>
              <a:t>@Olympics 0.6462 @bellaluminosa806  0.0443 @francisnguyen6349  0.0432 @jamesclarkmaxwell-v2n 0.0332</a:t>
            </a:r>
          </a:p>
          <a:p>
            <a:r>
              <a:rPr lang="it-IT" sz="1400" dirty="0"/>
              <a:t>@jamesaaronmanarang  0.033</a:t>
            </a:r>
          </a:p>
        </p:txBody>
      </p:sp>
    </p:spTree>
    <p:extLst>
      <p:ext uri="{BB962C8B-B14F-4D97-AF65-F5344CB8AC3E}">
        <p14:creationId xmlns:p14="http://schemas.microsoft.com/office/powerpoint/2010/main" val="206767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5BA6870-D03B-59F6-3B20-ECB878D96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2961" y="5372258"/>
            <a:ext cx="7931044" cy="13370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it-I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Componenti connesse e </a:t>
            </a:r>
            <a:r>
              <a:rPr lang="it-IT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Giant</a:t>
            </a:r>
            <a:r>
              <a:rPr lang="it-I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 </a:t>
            </a:r>
            <a:br>
              <a:rPr lang="it-I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8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299" y="5474501"/>
            <a:ext cx="3548891" cy="106430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it-IT" sz="1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228600"/>
            <a:endParaRPr lang="en-US" sz="1800" dirty="0"/>
          </a:p>
        </p:txBody>
      </p:sp>
      <p:sp>
        <p:nvSpPr>
          <p:cNvPr id="54" name="Freeform: Shape 51">
            <a:extLst>
              <a:ext uri="{FF2B5EF4-FFF2-40B4-BE49-F238E27FC236}">
                <a16:creationId xmlns:a16="http://schemas.microsoft.com/office/drawing/2014/main" id="{7007C44E-5608-5BA7-E07F-64016EA2A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8" cy="5143500"/>
          </a:xfrm>
          <a:custGeom>
            <a:avLst/>
            <a:gdLst>
              <a:gd name="connsiteX0" fmla="*/ 0 w 12191998"/>
              <a:gd name="connsiteY0" fmla="*/ 0 h 5143500"/>
              <a:gd name="connsiteX1" fmla="*/ 12191998 w 12191998"/>
              <a:gd name="connsiteY1" fmla="*/ 0 h 5143500"/>
              <a:gd name="connsiteX2" fmla="*/ 12191998 w 12191998"/>
              <a:gd name="connsiteY2" fmla="*/ 4482569 h 5143500"/>
              <a:gd name="connsiteX3" fmla="*/ 11531067 w 12191998"/>
              <a:gd name="connsiteY3" fmla="*/ 5143500 h 5143500"/>
              <a:gd name="connsiteX4" fmla="*/ 660929 w 12191998"/>
              <a:gd name="connsiteY4" fmla="*/ 5143500 h 5143500"/>
              <a:gd name="connsiteX5" fmla="*/ 13426 w 12191998"/>
              <a:gd name="connsiteY5" fmla="*/ 4615770 h 5143500"/>
              <a:gd name="connsiteX6" fmla="*/ 0 w 12191998"/>
              <a:gd name="connsiteY6" fmla="*/ 448259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143500">
                <a:moveTo>
                  <a:pt x="0" y="0"/>
                </a:moveTo>
                <a:lnTo>
                  <a:pt x="12191998" y="0"/>
                </a:lnTo>
                <a:lnTo>
                  <a:pt x="12191998" y="4482569"/>
                </a:lnTo>
                <a:cubicBezTo>
                  <a:pt x="12191998" y="4847591"/>
                  <a:pt x="11896089" y="5143500"/>
                  <a:pt x="11531067" y="5143500"/>
                </a:cubicBezTo>
                <a:lnTo>
                  <a:pt x="660929" y="5143500"/>
                </a:lnTo>
                <a:cubicBezTo>
                  <a:pt x="341535" y="5143500"/>
                  <a:pt x="75055" y="4916945"/>
                  <a:pt x="13426" y="4615770"/>
                </a:cubicBezTo>
                <a:lnTo>
                  <a:pt x="0" y="44825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CD46C27-E4DB-4069-5AAC-7F536D9B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9" b="-2"/>
          <a:stretch/>
        </p:blipFill>
        <p:spPr>
          <a:xfrm>
            <a:off x="6258483" y="228758"/>
            <a:ext cx="5255089" cy="413498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3E685F-657B-68E3-43C4-3813F7E9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8" y="228758"/>
            <a:ext cx="5950095" cy="404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373626"/>
            <a:ext cx="4256263" cy="1671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Componenti connesse e </a:t>
            </a:r>
            <a:r>
              <a:rPr lang="it-I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Giant</a:t>
            </a:r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045110"/>
            <a:ext cx="4256263" cy="4079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N° nodi </a:t>
            </a:r>
            <a:r>
              <a:rPr lang="it-IT" sz="2000" u="sng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Giant</a:t>
            </a: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9767  -&gt; copre il 33.72 % dei nodi della rete </a:t>
            </a:r>
          </a:p>
          <a:p>
            <a:pPr algn="ctr"/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Diametro </a:t>
            </a:r>
            <a:r>
              <a:rPr lang="it-IT" sz="2000" u="sng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Giant</a:t>
            </a:r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 17</a:t>
            </a:r>
          </a:p>
          <a:p>
            <a:pPr algn="ctr"/>
            <a:endParaRPr lang="it-IT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25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723" y="384744"/>
            <a:ext cx="4256263" cy="127562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 delle community  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1750142"/>
            <a:ext cx="4256263" cy="4374813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r>
              <a:rPr lang="it-IT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Modularità</a:t>
            </a:r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0.9798 -&gt;</a:t>
            </a:r>
            <a:r>
              <a:rPr lang="it-IT" dirty="0"/>
              <a:t>la rete è estremamente ben divisa in comunità, quasi tutte le interazioni tra i nodi avvengono all'interno delle comunità, con pochissime connessioni tra nodi di comunità diverse. Questo tipo di struttura suggerisce che le comunità nella rete sono fortemente coese e che ci sono scarse interazioni o collegamenti tra i gruppi, quasi come se fossero gruppi isolati.</a:t>
            </a:r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80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2059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 delle community  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1898796"/>
            <a:ext cx="4256263" cy="4591978"/>
          </a:xfr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 l’algoritmo di </a:t>
            </a:r>
            <a:r>
              <a:rPr lang="it-IT" sz="2300" u="sng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Louvain</a:t>
            </a:r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ho cercato le 10 community più grandi nella rete: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8: 905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59: 895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34: 672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4: 478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35: 442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28: 360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62: 296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69: 296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18: 287 nodi</a:t>
            </a:r>
          </a:p>
          <a:p>
            <a:r>
              <a:rPr lang="it-IT" sz="2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Comunità 152: 283 nodi</a:t>
            </a:r>
            <a:endParaRPr lang="en-US" sz="2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39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2059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 delle community  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1898796"/>
            <a:ext cx="4256263" cy="45919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000" dirty="0"/>
              <a:t>Per ogni community ho calcolato la percentuale di utenti che hanno commentato determinati sporto per vedere quante conversazioni avevano le varie community in comune.</a:t>
            </a:r>
          </a:p>
          <a:p>
            <a:endParaRPr lang="it-IT" dirty="0"/>
          </a:p>
          <a:p>
            <a:endParaRPr lang="it-IT" sz="2000" dirty="0"/>
          </a:p>
          <a:p>
            <a:endParaRPr lang="it-IT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991553B-08C1-6FA0-CEB8-882B1F666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16" y="963891"/>
            <a:ext cx="4869351" cy="49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94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4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01939BB-8614-4E54-74E0-27E468B8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001" y="0"/>
            <a:ext cx="8035000" cy="6858001"/>
          </a:xfrm>
          <a:custGeom>
            <a:avLst/>
            <a:gdLst>
              <a:gd name="connsiteX0" fmla="*/ 0 w 8035000"/>
              <a:gd name="connsiteY0" fmla="*/ 0 h 6858001"/>
              <a:gd name="connsiteX1" fmla="*/ 8035000 w 8035000"/>
              <a:gd name="connsiteY1" fmla="*/ 0 h 6858001"/>
              <a:gd name="connsiteX2" fmla="*/ 8035000 w 8035000"/>
              <a:gd name="connsiteY2" fmla="*/ 6858001 h 6858001"/>
              <a:gd name="connsiteX3" fmla="*/ 137897 w 8035000"/>
              <a:gd name="connsiteY3" fmla="*/ 6858001 h 6858001"/>
              <a:gd name="connsiteX4" fmla="*/ 274509 w 8035000"/>
              <a:gd name="connsiteY4" fmla="*/ 6844229 h 6858001"/>
              <a:gd name="connsiteX5" fmla="*/ 815799 w 8035000"/>
              <a:gd name="connsiteY5" fmla="*/ 6180089 h 6858001"/>
              <a:gd name="connsiteX6" fmla="*/ 815799 w 8035000"/>
              <a:gd name="connsiteY6" fmla="*/ 677915 h 6858001"/>
              <a:gd name="connsiteX7" fmla="*/ 137886 w 8035000"/>
              <a:gd name="connsiteY7" fmla="*/ 2 h 6858001"/>
              <a:gd name="connsiteX8" fmla="*/ 0 w 8035000"/>
              <a:gd name="connsiteY8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3" y="752136"/>
            <a:ext cx="3936726" cy="35531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Sentiment Analysis degli sport</a:t>
            </a:r>
            <a:br>
              <a:rPr lang="it-I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3657600"/>
            <a:ext cx="3698627" cy="2362201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endParaRPr lang="it-IT" dirty="0"/>
          </a:p>
          <a:p>
            <a:r>
              <a:rPr lang="it-IT" dirty="0"/>
              <a:t>Riportata qui a lato c’è un grafico che segna le percentuali di apprezzamento dei vari commentatori per ogni sport (fino a massimo 5)</a:t>
            </a:r>
          </a:p>
          <a:p>
            <a:endParaRPr lang="it-IT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FAE9BF-D9EE-2549-349A-E2B8FE3B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91" r="1901" b="1"/>
          <a:stretch/>
        </p:blipFill>
        <p:spPr>
          <a:xfrm>
            <a:off x="5476136" y="241375"/>
            <a:ext cx="6370893" cy="609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10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49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1">
            <a:extLst>
              <a:ext uri="{FF2B5EF4-FFF2-40B4-BE49-F238E27FC236}">
                <a16:creationId xmlns:a16="http://schemas.microsoft.com/office/drawing/2014/main" id="{401939BB-8614-4E54-74E0-27E468B8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001" y="0"/>
            <a:ext cx="8035000" cy="6858001"/>
          </a:xfrm>
          <a:custGeom>
            <a:avLst/>
            <a:gdLst>
              <a:gd name="connsiteX0" fmla="*/ 0 w 8035000"/>
              <a:gd name="connsiteY0" fmla="*/ 0 h 6858001"/>
              <a:gd name="connsiteX1" fmla="*/ 8035000 w 8035000"/>
              <a:gd name="connsiteY1" fmla="*/ 0 h 6858001"/>
              <a:gd name="connsiteX2" fmla="*/ 8035000 w 8035000"/>
              <a:gd name="connsiteY2" fmla="*/ 6858001 h 6858001"/>
              <a:gd name="connsiteX3" fmla="*/ 137897 w 8035000"/>
              <a:gd name="connsiteY3" fmla="*/ 6858001 h 6858001"/>
              <a:gd name="connsiteX4" fmla="*/ 274509 w 8035000"/>
              <a:gd name="connsiteY4" fmla="*/ 6844229 h 6858001"/>
              <a:gd name="connsiteX5" fmla="*/ 815799 w 8035000"/>
              <a:gd name="connsiteY5" fmla="*/ 6180089 h 6858001"/>
              <a:gd name="connsiteX6" fmla="*/ 815799 w 8035000"/>
              <a:gd name="connsiteY6" fmla="*/ 677915 h 6858001"/>
              <a:gd name="connsiteX7" fmla="*/ 137886 w 8035000"/>
              <a:gd name="connsiteY7" fmla="*/ 2 h 6858001"/>
              <a:gd name="connsiteX8" fmla="*/ 0 w 8035000"/>
              <a:gd name="connsiteY8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3" y="752136"/>
            <a:ext cx="3936726" cy="35531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4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Sentiment Analysis degli sport</a:t>
            </a:r>
            <a:br>
              <a:rPr lang="it-IT" sz="4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000" b="1" kern="1200">
              <a:latin typeface="+mj-lt"/>
              <a:ea typeface="+mj-ea"/>
              <a:cs typeface="+mj-cs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D0021B2-88DB-FF9D-1BA3-CA104F9C5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026" y="-1"/>
            <a:ext cx="3812486" cy="683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88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2059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Conclusioni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1898796"/>
            <a:ext cx="4256263" cy="4591978"/>
          </a:xfr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Abbiamo osservato che la rete dei commenti su YouTube relativi alle Olimpiadi e Paralimpiadi è fortemente modulare, con la maggior parte delle interazioni che avvengono all'interno di comunità distinte.</a:t>
            </a: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rete mostra proprietà di "small-world", tipiche delle reti sui social media, dove gli utenti sono altamente connessi all'interno delle comunità.</a:t>
            </a: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Attraverso le metriche di centralità, abbiamo identificato gli influencer chiave nella rete, con @Olympics che risulta essere il nodo più centrale, indicando che ha la maggiore portata e influenza.</a:t>
            </a: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8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1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0B3BFF-4112-F037-D51E-98ABAF9B4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18" y="367226"/>
            <a:ext cx="4256263" cy="12059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Conclusioni</a:t>
            </a:r>
            <a:br>
              <a:rPr lang="it-I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D082E-DD6A-080E-A091-4A9B6EED4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1898796"/>
            <a:ext cx="4256263" cy="4591978"/>
          </a:xfr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 risultati mostrano che esiste una correlazione tra le lingue parlate dagli utenti e la loro appartenenza a comunità specifiche. Questo suggerisce che gli utenti tendono a interagire principalmente con altri che condividono la stessa lingua o provenienza culturale.</a:t>
            </a:r>
          </a:p>
          <a:p>
            <a:r>
              <a:rPr lang="it-IT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L'analisi di modularità ha rivelato che alcune comunità sono fortemente focalizzate su sport specifici, con discussioni predominanti in eventi come l'atletica e il nuoto, suggerendo che l'interesse per sport popolari guida le dinamiche sociali online durante le Olimpiadi.</a:t>
            </a:r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3AAEE6-FCDB-9E77-C617-A4A95981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9" r="746" b="1"/>
          <a:stretch/>
        </p:blipFill>
        <p:spPr>
          <a:xfrm>
            <a:off x="5879846" y="1898796"/>
            <a:ext cx="546723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13338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1100</Words>
  <Application>Microsoft Office PowerPoint</Application>
  <PresentationFormat>Widescreen</PresentationFormat>
  <Paragraphs>130</Paragraphs>
  <Slides>26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30" baseType="lpstr">
      <vt:lpstr>ADLaM Display</vt:lpstr>
      <vt:lpstr>Arial</vt:lpstr>
      <vt:lpstr>Neue Haas Grotesk Text Pro</vt:lpstr>
      <vt:lpstr>DylanVTI</vt:lpstr>
      <vt:lpstr>Olimpiadi e Paralimpiadi Parigi 2024</vt:lpstr>
      <vt:lpstr>Panoramica</vt:lpstr>
      <vt:lpstr>Contesto</vt:lpstr>
      <vt:lpstr>Domande di ricerca</vt:lpstr>
      <vt:lpstr>Data Gathering </vt:lpstr>
      <vt:lpstr>Data Gathering </vt:lpstr>
      <vt:lpstr>Data Gathering </vt:lpstr>
      <vt:lpstr>Costruzione della Rete </vt:lpstr>
      <vt:lpstr>Costruzione del grafo </vt:lpstr>
      <vt:lpstr>Costruzione della Rete </vt:lpstr>
      <vt:lpstr> Costruzione della Rete </vt:lpstr>
      <vt:lpstr>Metriche e Analisi informative della Rete </vt:lpstr>
      <vt:lpstr>Distribuzione del grado  </vt:lpstr>
      <vt:lpstr>Confronto con rete Erdos-Renyi </vt:lpstr>
      <vt:lpstr>E’ una rete con meccanismo small-world ??? </vt:lpstr>
      <vt:lpstr>Confronto con rete Erdos-Renyi </vt:lpstr>
      <vt:lpstr>Metriche di centralità</vt:lpstr>
      <vt:lpstr>Componenti connesse e Giant Component  </vt:lpstr>
      <vt:lpstr>Componenti connesse e Giant Component</vt:lpstr>
      <vt:lpstr>Analisi delle community   </vt:lpstr>
      <vt:lpstr>Analisi delle community   </vt:lpstr>
      <vt:lpstr>Analisi delle community   </vt:lpstr>
      <vt:lpstr>Sentiment Analysis degli sport </vt:lpstr>
      <vt:lpstr>Sentiment Analysis degli sport </vt:lpstr>
      <vt:lpstr> Conclusioni</vt:lpstr>
      <vt:lpstr> Conclusioni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manconi</dc:creator>
  <cp:lastModifiedBy>mauro manconi</cp:lastModifiedBy>
  <cp:revision>7</cp:revision>
  <dcterms:created xsi:type="dcterms:W3CDTF">2024-09-17T08:02:39Z</dcterms:created>
  <dcterms:modified xsi:type="dcterms:W3CDTF">2024-09-20T08:36:56Z</dcterms:modified>
</cp:coreProperties>
</file>